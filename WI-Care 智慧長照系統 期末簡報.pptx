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20 秒）各位評審老師好，我們是 115506 組，專題題目是 WI-Care 智慧長照系統——一套基於 Wi-Fi CSI 的非接觸式跌倒偵測平台。指導老師是林志宗老師，組員有洪銘澤、洪頎棻、文淳霈、李勝閎。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15 秒）今天的報告分成八個部分：背景動機、系統介紹、感測原理與跌倒偵測、系統架構、系統展示、測試評估、評審意見修正，最後是未來展望與結論。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第一部分由李勝閎報告背景動機與目的。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50 秒）台灣在 2025 年正式進入超高齡社會，65 歲以上人口超過兩成。人口變老之後，跌倒是最致命的隱形殺手，而且超過一半的跌傷發生在室內，最常見的就是臥室和客廳——這些剛好都是不適合裝攝影機的私密空間。另一方面，長照服務人數十年間成長了 9.2 倍，但照服人力只成長 4.1 倍，人力明顯跟不上。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45 秒）目前常見的做法有三種：攝影機會侵犯隱私，浴室臥室不能裝；穿戴式裝置要記得戴、要充電，洗澡睡覺時常拿下來；人工巡房則受限於人力，夜間間隔長。所以我們的目的是利用室內既有的 Wi-Fi 訊號，做到不拍攝、免穿戴的跌倒偵測，並在跌倒時立即通知照護者。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第二部分由文淳霈介紹系統與特色。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45 秒）WI-Care 是一套以 Wi-Fi CSI 為核心的智慧長照監控平台。ESP32-S3 感測人體活動造成的無線訊號變化，轉成 Movement Score，在網頁儀表板即時顯示。當系統判斷為跌倒，會寫入事件紀錄，並透過 LINE 通知醫護人員和家屬。系統也整合了健康紀錄和 AI 照護分析，使用者分成醫護人員、家屬、管理者三種角色。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40 秒）WI-Care 有四大特色：第一，極高隱私，沒有鏡頭和錄音，可以用在臥室和浴室；第二，無感被動監測，長者不需要穿戴或充電；第三，低建置成本，使用平價的 ESP32-S3；第四，不只偵測跌倒，而是整合警報、健康紀錄、報表與 AI 分析的完整照護平台。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第三部分由洪頎棻說明感測原理與跌倒偵測方式。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45 秒）Wi-Fi 訊號在室內會持續傳播和反射，當人體移動時會造成多徑和衰減的變化。ESP32-S3 搭配 ESPectre 韌體擷取通道狀態資訊，也就是 CSI，再經過去噪計算成 Movement Score，代表活動的劇烈程度。整個過程不拍影像、不錄音，只傳送分數，天生就保護隱私。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70 秒）這是初評時評審老師最關心的部分：跌倒怎麼判斷。我們採用兩個條件。第一步偵測動作尖峰：分數要達到 140 以上，而且比基線高出 75 以上，基線是最近 8 筆靜止值的中位數，這樣可以避免一般活動被當成跌倒。第二步，在尖峰後的 6 秒內，用 Wi-Fi RSSI 多點定位追蹤位置。第三步，如果位移小於 0.8 公尺，代表人倒下後沒有起身移動，才確認是跌倒；如果還在走動，就當作日常動作。最後寫入事件、儀表板轉紅並 LINE 通知。之所以用兩個條件，是因為快速坐下、彎腰也會產生尖峰。沒有定位資料時會退回單一條件，寧可多報也不漏報。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40 秒）除了主要的跌倒判斷，我們還加了四個輔助機制。自適應閾值會依環境統計和靈敏度設定自動調整，並用 Hampel 濾波排除離群值；長時間靜止提醒在白天 45 分鐘沒有活動就通知，夜間睡眠時段不提醒；感測節點離線超過 30 秒會 LINE 通知，回應評審提到的斷線問題；警報 2 分鐘沒人確認會再推播一次。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接著說明系統架構與使用的技術。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50 秒）系統分為物聯網四層。感知層是 ESP32-S3 感測節點，擷取 CSI 並計算 Movement Score；透過 BLE 或 Serial 傳到邊緣處理層的 Python core_bridge，負責濾波、跌倒判斷、定位融合，並以 WebSocket 每秒 10 次推播到前端；平台服務層使用 Supabase 儲存事件與健康資料，並以 LINE Messaging API 發送警報；應用層是 React 網頁儀表板，提供醫護人員、家屬與管理者使用。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40 秒）技術堆疊如圖。和初評相比有三個主要改變：資料庫從本機 PostgreSQL 遷移到 Supabase，取得雲端存取與權限控管；LINE Notify 已經停止服務，所以改用 LINE Messaging API；另外新增了 Google Gemini 提供照護洞察分析。Gemini 只用於分析報表，不參與跌倒判斷。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40 秒）評審老師提到醫療紀錄屬於機密資料。我們的做法是：傳輸全程 HTTPS；資料庫用 Row Level Security 依角色限制可讀寫的資料，例如家屬只能看到自己綁定的家人；密碼雜湊儲存，API 金鑰只放在伺服器端；重要操作寫入稽核日誌。我們也寫了 31 項權限攻擊測試，例如家屬嘗試讀取別人的資料，全部都被正確擋下。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第五部分由洪銘澤進行系統展示。若現場訊號干擾大，改播放預先錄製的展示影片。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40 秒）這是即時監控面板。上方顯示設備狀態、目前監控的受護者和房號，Movement Score 每秒更新 10 次；中間是 CSI 波形的即時折線圖；右側平面圖標示受護者目前位置。系統也可以切換實機模式和模擬模式，方便在沒有硬體時展示。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40 秒）當系統確認跌倒，平面圖上該房間會轉紅，並彈出警報視窗，顯示房號和偵測時間。照護人員可以按「立即處理」或「標記誤報」，誤報標記會回饋給靈敏度調整建議。同時系統寫入跌倒事件，並透過 LINE 推播給醫護人員與家屬。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40 秒）左邊是警報通知頁，統計待處理、已確認和誤報的件數，並依照護人員標記的誤報，產生每位住民的靈敏度調整建議，回應評審「誤報會讓照護人員很困擾」的意見。右邊是智慧照護分析，依近 14 天的事件、年齡、病史和用藥計算跌倒風險排行，並由 Gemini 產生照護建議。系統另外還有健康紀錄、報表、區域管理和帳號管理等功能，詳見系統手冊第十二章。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第六部分由李勝閎報告測試與評估結果。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60 秒）初評時評審要求準確率要分開計算，所以我們建立了離線評估工具 fall_eval.py，分別統計漏報和誤報。結果是：7 次模擬跌倒全部偵測到，召回率 100%；精確率約 70%，每小時大約 3 次誤報，多來自快速坐下和彎腰；從跌倒到 LINE 收到通知約 30 秒。我們選擇召回率優先，因為漏報一次可能延誤救援，而誤報可以由照護人員標記並回饋調整。另外，第十章共 50 項測試個案，後端 72 項、前端 63 項自動化測試都通過。必須說明目前樣本數還少，下一階段會擴大實測。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50 秒）除了規則式的跌倒判斷，我們也做了延伸研究：用 ESP32-S3 錄製的 CSI 特徵訓練 LSTM 模型，辨識空房間、蹲下和揮手三種狀態。共 27 段錄製、472 筆時序資料，6 項特徵，兩層 LSTM。訓練準確率 95.2%，驗證準確率 83.3%。要誠實說明的是，這目前是離線的研究原型，還沒有整合進即時系統，而且驗證樣本只有 6 筆，未來需要更多受試者和場域資料。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第七部分由文淳霈說明初評評審意見的修正情形。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60 秒）初評時評審老師共提出 18 項意見，這裡列出最重要的七項。跌倒判斷方式已寫入第九章；準確率改為分開計算；以雙條件和誤報標記回饋降低照護負擔；醫療資料以 HTTPS、權限控管、雜湊和稽核日誌保護；感測節點斷線會即時 LINE 告警；多人房目前鎖定單人房，列為後續研究；硬體環境的描述也已修正。完整內容在手冊附錄表 15-1。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最後說明未來展望與結論。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45 秒）目前已知的限制包括微波爐等 2.4 GHz 干擾源和金屬遮蔽會影響訊號，而且適用於單人房。未來我們會：一、擴大實測，包含浴室環境；二、以穿戴式裝置的公開準確率作為比較基準持續調校；三、加入雲端定時檢查，讓邊緣主機斷電斷網也能告警；四、研究多人辨識，並延伸整合穿戴裝置資料和寵物照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40 秒）總結來說，WI-Care 以低成本、高隱私的 Wi-Fi CSI 感測為核心，串接 ESP32-S3、Python 邊緣運算、Supabase 與 React 儀表板，並以 LINE 即時通知照護者，在臥室、浴室等攝影機無法進入的空間補上監測缺口。我們的特色是低成本、高隱私、非接觸、即時警報與健康管理。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以上是我們的報告，謝謝各位評審老師，敬請指教。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092200" y="762000"/>
            <a:ext cx="40640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092200" y="1534160"/>
            <a:ext cx="10287000" cy="451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092200" y="762000"/>
            <a:ext cx="40640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092200" y="1534160"/>
            <a:ext cx="10287000" cy="451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09000" y="0"/>
            <a:ext cx="5461000" cy="5461000"/>
          </a:xfrm>
          <a:prstGeom prst="rect">
            <a:avLst/>
          </a:prstGeom>
        </p:spPr>
      </p:pic>
      <p:pic>
        <p:nvPicPr>
          <p:cNvPr id="3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25000" y="0"/>
            <a:ext cx="3556000" cy="3556000"/>
          </a:xfrm>
          <a:prstGeom prst="rect">
            <a:avLst/>
          </a:prstGeom>
        </p:spPr>
      </p:pic>
      <p:pic>
        <p:nvPicPr>
          <p:cNvPr id="4" name="Image 2" descr="Glob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14000" y="698500"/>
            <a:ext cx="889000" cy="889000"/>
          </a:xfrm>
          <a:prstGeom prst="rect">
            <a:avLst/>
          </a:prstGeom>
        </p:spPr>
      </p:pic>
      <p:sp>
        <p:nvSpPr>
          <p:cNvPr id="5" name="Text 0"/>
          <p:cNvSpPr/>
          <p:nvPr>
            <p:ph type="title"/>
          </p:nvPr>
        </p:nvSpPr>
        <p:spPr>
          <a:xfrm>
            <a:off x="812800" y="1267460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i="0" dirty="0">
                <a:solidFill>
                  <a:srgbClr val="F4F7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0000" dirty="0"/>
          </a:p>
        </p:txBody>
      </p:sp>
      <p:sp>
        <p:nvSpPr>
          <p:cNvPr id="6" name="Text 1"/>
          <p:cNvSpPr/>
          <p:nvPr/>
        </p:nvSpPr>
        <p:spPr>
          <a:xfrm>
            <a:off x="812800" y="2689860"/>
            <a:ext cx="10883392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b="1" dirty="0">
                <a:solidFill>
                  <a:srgbClr val="22B5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智慧長照系統</a:t>
            </a:r>
            <a:endParaRPr lang="en-US" sz="4400" dirty="0"/>
          </a:p>
        </p:txBody>
      </p:sp>
      <p:sp>
        <p:nvSpPr>
          <p:cNvPr id="7" name="Text 2"/>
          <p:cNvSpPr/>
          <p:nvPr/>
        </p:nvSpPr>
        <p:spPr>
          <a:xfrm>
            <a:off x="812800" y="348488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i="1" dirty="0">
                <a:solidFill>
                  <a:srgbClr val="BFD3E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基於 Wi-Fi CSI 的非接觸式跌倒偵測平台</a:t>
            </a:r>
            <a:endParaRPr lang="en-US" sz="2200" dirty="0"/>
          </a:p>
        </p:txBody>
      </p:sp>
      <p:pic>
        <p:nvPicPr>
          <p:cNvPr id="8" name="Image 3" descr="li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4028440"/>
            <a:ext cx="5588000" cy="127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12800" y="419354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4F7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115506 組　期末審查</a:t>
            </a:r>
            <a:endParaRPr lang="en-US" sz="2000" dirty="0"/>
          </a:p>
        </p:txBody>
      </p:sp>
      <p:sp>
        <p:nvSpPr>
          <p:cNvPr id="10" name="Text 4"/>
          <p:cNvSpPr/>
          <p:nvPr/>
        </p:nvSpPr>
        <p:spPr>
          <a:xfrm>
            <a:off x="812800" y="4701540"/>
            <a:ext cx="1088339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BFD3E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指導老師：林志宗 老師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BFD3E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組員：洪銘澤　洪頎棻　文淳霈　李勝閎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812800" y="6238240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67080"/>
            <a:ext cx="10160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1092200" y="762000"/>
            <a:ext cx="97536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目錄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588135"/>
            <a:ext cx="5276850" cy="7150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1767840"/>
            <a:ext cx="5035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0E749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94736" y="1785620"/>
            <a:ext cx="192024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背景動機與目的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9175" y="1588135"/>
            <a:ext cx="5276850" cy="7150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767840"/>
            <a:ext cx="5035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0E749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977936" y="1785620"/>
            <a:ext cx="109728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系統展示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5975" y="2309495"/>
            <a:ext cx="5276850" cy="7150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1880" y="2489200"/>
            <a:ext cx="5035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0E749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94736" y="2506980"/>
            <a:ext cx="192024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系統介紹與特色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99175" y="2309495"/>
            <a:ext cx="5276850" cy="7150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489200"/>
            <a:ext cx="5035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0E749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77936" y="2506980"/>
            <a:ext cx="13716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測試與評估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5975" y="3030855"/>
            <a:ext cx="5276850" cy="7150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1880" y="3210560"/>
            <a:ext cx="5035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0E749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694736" y="3228340"/>
            <a:ext cx="246888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感測原理與跌倒偵測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99175" y="3030855"/>
            <a:ext cx="5276850" cy="7150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210560"/>
            <a:ext cx="5035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0E749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07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77936" y="3228340"/>
            <a:ext cx="192024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評審意見與修正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15975" y="3752215"/>
            <a:ext cx="5276850" cy="7150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880" y="3931920"/>
            <a:ext cx="5035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0E749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694736" y="3949700"/>
            <a:ext cx="192024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系統架構與技術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99175" y="3752215"/>
            <a:ext cx="5276850" cy="7150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931920"/>
            <a:ext cx="5035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0E749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08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977936" y="3949700"/>
            <a:ext cx="192024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未來展望與結論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41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6000"/>
            <a:ext cx="305308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0"/>
              </a:lnSpc>
              <a:buNone/>
            </a:pPr>
            <a:r>
              <a:rPr lang="en-US" sz="18000" b="1" dirty="0">
                <a:solidFill>
                  <a:srgbClr val="1E4A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3865880" y="2667000"/>
            <a:ext cx="101600" cy="1524000"/>
          </a:xfrm>
          <a:prstGeom prst="rect">
            <a:avLst/>
          </a:prstGeom>
          <a:solidFill>
            <a:srgbClr val="22B5D6"/>
          </a:solidFill>
          <a:ln/>
        </p:spPr>
      </p:sp>
      <p:sp>
        <p:nvSpPr>
          <p:cNvPr id="4" name="Text 2"/>
          <p:cNvSpPr/>
          <p:nvPr>
            <p:ph type="title"/>
          </p:nvPr>
        </p:nvSpPr>
        <p:spPr>
          <a:xfrm>
            <a:off x="4323080" y="2872741"/>
            <a:ext cx="469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4F7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背景動機與目的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323080" y="3665220"/>
            <a:ext cx="4028948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2B5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報告者：李勝閎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6238241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67080"/>
            <a:ext cx="10160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1092200" y="762000"/>
            <a:ext cx="53644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超高齡社會下的照護缺口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588136"/>
            <a:ext cx="3346450" cy="4250690"/>
          </a:xfrm>
          <a:prstGeom prst="rect">
            <a:avLst/>
          </a:prstGeom>
          <a:solidFill>
            <a:srgbClr val="FFFFFF"/>
          </a:solidFill>
          <a:ln w="6350">
            <a:solidFill>
              <a:srgbClr val="D5DF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94841"/>
            <a:ext cx="2867355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0E749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20.1%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97280" y="2783841"/>
            <a:ext cx="286735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2025 年進入超高齡社會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185161"/>
            <a:ext cx="286735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65 歲以上人口達 470 萬人，占總人口兩成以上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22775" y="1588136"/>
            <a:ext cx="3346450" cy="4250690"/>
          </a:xfrm>
          <a:prstGeom prst="rect">
            <a:avLst/>
          </a:prstGeom>
          <a:solidFill>
            <a:srgbClr val="FFFFFF"/>
          </a:solidFill>
          <a:ln w="6350">
            <a:solidFill>
              <a:srgbClr val="D5D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4080" y="1894841"/>
            <a:ext cx="2867355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C2410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52%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704080" y="2783841"/>
            <a:ext cx="286735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長者跌傷發生在室內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04080" y="3185161"/>
            <a:ext cx="286735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臥室 35.6%、客廳 30.8%，正是攝影機不適合裝設的私密空間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29575" y="1588136"/>
            <a:ext cx="3346450" cy="4250690"/>
          </a:xfrm>
          <a:prstGeom prst="rect">
            <a:avLst/>
          </a:prstGeom>
          <a:solidFill>
            <a:srgbClr val="FFFFFF"/>
          </a:solidFill>
          <a:ln w="6350">
            <a:solidFill>
              <a:srgbClr val="D5DF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10880" y="1894841"/>
            <a:ext cx="2867355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9.2×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310880" y="2783841"/>
            <a:ext cx="286735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服務需求成長遠超人力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10880" y="3185161"/>
            <a:ext cx="286735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2016→2025 長照服務人數成長 9.2 倍，照服人力僅成長 4.1 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資料來源：臺北榮總高齡醫學中心、國民健康署 106 年國民健康訪問調查、衛福部長照 2.0 成果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67082"/>
            <a:ext cx="10160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1092200" y="762000"/>
            <a:ext cx="633984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現有方案的限制與本專題目的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537336"/>
            <a:ext cx="3346450" cy="16167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5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818639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79880" y="1844039"/>
            <a:ext cx="152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攝影機監控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97280" y="2301239"/>
            <a:ext cx="2867355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侵犯隱私，浴室、臥室無法裝設；長者與家屬接受度低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22775" y="1537336"/>
            <a:ext cx="3346450" cy="16167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9" name="Image 1" descr="C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4080" y="1818639"/>
            <a:ext cx="355600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6680" y="1844039"/>
            <a:ext cx="152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穿戴式裝置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704080" y="2301239"/>
            <a:ext cx="2867355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需要記得配戴與充電；洗澡、睡覺時常取下，最危險時反而沒戴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029575" y="1537336"/>
            <a:ext cx="3346450" cy="16167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13" name="Image 2" descr="User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10880" y="1818639"/>
            <a:ext cx="355600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93480" y="1844039"/>
            <a:ext cx="1219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人工巡房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310880" y="2301239"/>
            <a:ext cx="2867355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人力不足，夜間巡房間隔長，跌倒後可能久候無人發現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12800" y="3462021"/>
            <a:ext cx="10566400" cy="88265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7" name="Text 12"/>
          <p:cNvSpPr/>
          <p:nvPr/>
        </p:nvSpPr>
        <p:spPr>
          <a:xfrm>
            <a:off x="1143000" y="3743325"/>
            <a:ext cx="965200" cy="345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2B5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專題目的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286000" y="3741421"/>
            <a:ext cx="90932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F4F7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利用室內既有的 Wi-Fi 訊號，做到不拍攝、免穿戴的跌倒偵測，跌倒時立即通知照護者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12800" y="6238239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6000"/>
            <a:ext cx="305308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0"/>
              </a:lnSpc>
              <a:buNone/>
            </a:pPr>
            <a:r>
              <a:rPr lang="en-US" sz="18000" b="1" dirty="0">
                <a:solidFill>
                  <a:srgbClr val="1E4A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3865880" y="2667000"/>
            <a:ext cx="101600" cy="1524000"/>
          </a:xfrm>
          <a:prstGeom prst="rect">
            <a:avLst/>
          </a:prstGeom>
          <a:solidFill>
            <a:srgbClr val="22B5D6"/>
          </a:solidFill>
          <a:ln/>
        </p:spPr>
      </p:sp>
      <p:sp>
        <p:nvSpPr>
          <p:cNvPr id="4" name="Text 2"/>
          <p:cNvSpPr/>
          <p:nvPr>
            <p:ph type="title"/>
          </p:nvPr>
        </p:nvSpPr>
        <p:spPr>
          <a:xfrm>
            <a:off x="4323080" y="2872739"/>
            <a:ext cx="469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4F7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系統介紹與特色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323080" y="3665221"/>
            <a:ext cx="4028948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2B5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報告者：文淳霈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6238239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67082"/>
            <a:ext cx="10160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1092200" y="762000"/>
            <a:ext cx="3945255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 是什麼？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252982"/>
            <a:ext cx="630504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 Wi-Fi CSI 為核心的智慧長照監控平台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2837182"/>
            <a:ext cx="630504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ESP32-S3 感測人體活動造成的無線訊號變化，轉換為 Movement Score，在網頁儀表板即時顯示受護者狀態。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3675382"/>
            <a:ext cx="630504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判斷為跌倒時寫入事件紀錄，並透過 LINE 即時通知醫護人員與家屬；同時整合健康紀錄與 AI 照護分析。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4513582"/>
            <a:ext cx="630504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使用者分為</a:t>
            </a:r>
            <a:r>
              <a:rPr lang="en-US" sz="1500" b="1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醫護人員、家屬、管理者</a:t>
            </a:r>
            <a:r>
              <a:rPr lang="en-US" sz="15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三種角色，各自看到不同的畫面與資料。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45375" y="1600836"/>
            <a:ext cx="3930650" cy="56769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  <p:txBody>
          <a:bodyPr wrap="square" lIns="86893" tIns="141605" rIns="86893" bIns="116205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長者活動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83145" y="2247900"/>
            <a:ext cx="405511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0E749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45375" y="2505075"/>
            <a:ext cx="3930650" cy="56769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  <p:txBody>
          <a:bodyPr wrap="square" lIns="86893" tIns="141605" rIns="86893" bIns="116205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Wi-Fi 訊號變化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83145" y="3152139"/>
            <a:ext cx="405511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0E749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45375" y="3409314"/>
            <a:ext cx="3930650" cy="56769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  <p:txBody>
          <a:bodyPr wrap="square" lIns="86893" tIns="141605" rIns="86893" bIns="116205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ESP32-S3 擷取 → Movement Score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83145" y="4056382"/>
            <a:ext cx="405511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0E749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45375" y="4313557"/>
            <a:ext cx="3930650" cy="56769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  <p:txBody>
          <a:bodyPr wrap="square" lIns="86893" tIns="141605" rIns="86893" bIns="116205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跌倒偵測（尖峰＋定位融合）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83145" y="4960621"/>
            <a:ext cx="405511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0E749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42200" y="5214621"/>
            <a:ext cx="3937000" cy="563880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84836" tIns="139700" rIns="84836" bIns="11430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7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儀表板 ／ LINE 警報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39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67082"/>
            <a:ext cx="10160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1092200" y="762000"/>
            <a:ext cx="29260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四大系統特色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588136"/>
            <a:ext cx="5162550" cy="16675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5" name="Image 0" descr="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869439"/>
            <a:ext cx="40640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56080" y="1920239"/>
            <a:ext cx="1828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極高隱私保護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97280" y="2402839"/>
            <a:ext cx="473793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無鏡頭、無錄音，只分析 Wi-Fi 訊號變化，可用於臥室與浴室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3475" y="1588136"/>
            <a:ext cx="5162550" cy="16675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9" name="Image 1" descr="Activit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4780" y="1869439"/>
            <a:ext cx="40640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53580" y="1920239"/>
            <a:ext cx="1828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無感被動監測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494780" y="2402839"/>
            <a:ext cx="473793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長者免穿戴、免充電、零學習成本，24 小時持續監測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15975" y="3490596"/>
            <a:ext cx="5162550" cy="16675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13" name="Image 2" descr="Sta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97280" y="3771900"/>
            <a:ext cx="406400" cy="406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56080" y="3822700"/>
            <a:ext cx="152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低建置成本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1097280" y="4305300"/>
            <a:ext cx="473793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以平價 ESP32-S3 開發板佈建，成本遠低於專用醫療監測設備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13475" y="3490596"/>
            <a:ext cx="5162550" cy="16675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17" name="Image 3" descr="Lightbulb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94780" y="3771900"/>
            <a:ext cx="406400" cy="406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53580" y="3822700"/>
            <a:ext cx="1828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整合照護平台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494780" y="4305300"/>
            <a:ext cx="473793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從單點偵測延伸為警報、健康紀錄、報表與 AI 分析的完整平台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12800" y="6238242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6000"/>
            <a:ext cx="305308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0"/>
              </a:lnSpc>
              <a:buNone/>
            </a:pPr>
            <a:r>
              <a:rPr lang="en-US" sz="18000" b="1" dirty="0">
                <a:solidFill>
                  <a:srgbClr val="1E4A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3865880" y="2667000"/>
            <a:ext cx="101600" cy="1524000"/>
          </a:xfrm>
          <a:prstGeom prst="rect">
            <a:avLst/>
          </a:prstGeom>
          <a:solidFill>
            <a:srgbClr val="22B5D6"/>
          </a:solidFill>
          <a:ln/>
        </p:spPr>
      </p:sp>
      <p:sp>
        <p:nvSpPr>
          <p:cNvPr id="4" name="Text 2"/>
          <p:cNvSpPr/>
          <p:nvPr>
            <p:ph type="title"/>
          </p:nvPr>
        </p:nvSpPr>
        <p:spPr>
          <a:xfrm>
            <a:off x="4323080" y="287274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4F7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感測原理與跌倒偵測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323080" y="3665221"/>
            <a:ext cx="5180076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2B5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報告者：洪頎棻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6238242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67079"/>
            <a:ext cx="10160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1092200" y="762000"/>
            <a:ext cx="4148233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Wi-Fi CSI 感測原理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588139"/>
            <a:ext cx="2235200" cy="207899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5" name="Image 0" descr="Glob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79575" y="1869442"/>
            <a:ext cx="508000" cy="50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6335" y="2504442"/>
            <a:ext cx="155448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訊號充滿空間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41381" y="2890521"/>
            <a:ext cx="198438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Wi-Fi 訊號在室內持續傳播與反射</a:t>
            </a:r>
            <a:endParaRPr lang="en-US" sz="1300" dirty="0"/>
          </a:p>
        </p:txBody>
      </p:sp>
      <p:pic>
        <p:nvPicPr>
          <p:cNvPr id="8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81350" y="2551429"/>
            <a:ext cx="279400" cy="152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590925" y="1588139"/>
            <a:ext cx="2235200" cy="207899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10" name="Image 2" descr="User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54525" y="1869442"/>
            <a:ext cx="508000" cy="508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31285" y="2504442"/>
            <a:ext cx="155448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人體移動干擾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3716331" y="2890521"/>
            <a:ext cx="198438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移動造成多徑與衰減的變化</a:t>
            </a:r>
            <a:endParaRPr lang="en-US" sz="1300" dirty="0"/>
          </a:p>
        </p:txBody>
      </p:sp>
      <p:pic>
        <p:nvPicPr>
          <p:cNvPr id="13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56300" y="2551429"/>
            <a:ext cx="279400" cy="1524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65875" y="1588139"/>
            <a:ext cx="2235200" cy="207899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15" name="Image 4" descr="Cod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229475" y="1869442"/>
            <a:ext cx="508000" cy="508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369050" y="2504442"/>
            <a:ext cx="222885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ESP32-S3 擷取 CSI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6491281" y="2890521"/>
            <a:ext cx="198438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ESPectre 韌體取得通道狀態資訊</a:t>
            </a:r>
            <a:endParaRPr lang="en-US" sz="1300" dirty="0"/>
          </a:p>
        </p:txBody>
      </p:sp>
      <p:pic>
        <p:nvPicPr>
          <p:cNvPr id="18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731250" y="2551429"/>
            <a:ext cx="279400" cy="1524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140825" y="1711964"/>
            <a:ext cx="2235200" cy="183134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20" name="Image 6" descr="Chart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004425" y="1993267"/>
            <a:ext cx="508000" cy="5080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198198" y="2628267"/>
            <a:ext cx="212045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Movement Score</a:t>
            </a:r>
            <a:endParaRPr lang="en-US" sz="1700" dirty="0"/>
          </a:p>
        </p:txBody>
      </p:sp>
      <p:sp>
        <p:nvSpPr>
          <p:cNvPr id="22" name="Text 13"/>
          <p:cNvSpPr/>
          <p:nvPr/>
        </p:nvSpPr>
        <p:spPr>
          <a:xfrm>
            <a:off x="9168765" y="3014346"/>
            <a:ext cx="217932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去噪後量化活動劇烈程度</a:t>
            </a:r>
            <a:endParaRPr lang="en-US" sz="1300" dirty="0"/>
          </a:p>
        </p:txBody>
      </p:sp>
      <p:sp>
        <p:nvSpPr>
          <p:cNvPr id="23" name="Shape 14"/>
          <p:cNvSpPr/>
          <p:nvPr/>
        </p:nvSpPr>
        <p:spPr>
          <a:xfrm>
            <a:off x="812800" y="4025900"/>
            <a:ext cx="10566400" cy="81280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24" name="Text 15"/>
          <p:cNvSpPr/>
          <p:nvPr/>
        </p:nvSpPr>
        <p:spPr>
          <a:xfrm>
            <a:off x="1143000" y="4281171"/>
            <a:ext cx="914400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2B5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天生隱私</a:t>
            </a:r>
            <a:endParaRPr lang="en-US" sz="1700" dirty="0"/>
          </a:p>
        </p:txBody>
      </p:sp>
      <p:sp>
        <p:nvSpPr>
          <p:cNvPr id="25" name="Text 16"/>
          <p:cNvSpPr/>
          <p:nvPr/>
        </p:nvSpPr>
        <p:spPr>
          <a:xfrm>
            <a:off x="2235200" y="4279900"/>
            <a:ext cx="682752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4F7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全程不拍影像、不錄音；只傳送活動分數，無法還原出人的樣貌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812800" y="6238242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67079"/>
            <a:ext cx="10160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1092200" y="762000"/>
            <a:ext cx="7048976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跌倒判斷：動作尖峰 ＋ 定位融合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537339"/>
            <a:ext cx="2523490" cy="2195830"/>
          </a:xfrm>
          <a:prstGeom prst="rect">
            <a:avLst/>
          </a:prstGeom>
          <a:solidFill>
            <a:srgbClr val="FFFFFF"/>
          </a:solidFill>
          <a:ln w="6350">
            <a:solidFill>
              <a:srgbClr val="D5DF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1793242"/>
            <a:ext cx="212435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0E749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46480" y="2301242"/>
            <a:ext cx="212435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偵測動作尖峰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6480" y="2677164"/>
            <a:ext cx="212435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分數 ≥ 140，且比基線高出 ≥ 75（基線 = 最近 8 筆靜止值的中位數）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98215" y="1537339"/>
            <a:ext cx="2523490" cy="2195830"/>
          </a:xfrm>
          <a:prstGeom prst="rect">
            <a:avLst/>
          </a:prstGeom>
          <a:solidFill>
            <a:srgbClr val="FFFFFF"/>
          </a:solidFill>
          <a:ln w="6350">
            <a:solidFill>
              <a:srgbClr val="D5D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28720" y="1793242"/>
            <a:ext cx="212435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0E749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728720" y="2301242"/>
            <a:ext cx="212435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觀察 6 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28720" y="2677164"/>
            <a:ext cx="212435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尖峰後 6 秒內，以 Wi-Fi RSSI 多點定位追蹤受護者位置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80455" y="1537339"/>
            <a:ext cx="2523490" cy="2195830"/>
          </a:xfrm>
          <a:prstGeom prst="rect">
            <a:avLst/>
          </a:prstGeom>
          <a:solidFill>
            <a:srgbClr val="FFFFFF"/>
          </a:solidFill>
          <a:ln w="6350">
            <a:solidFill>
              <a:srgbClr val="D5DF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0960" y="1793242"/>
            <a:ext cx="212435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0E749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10960" y="2301242"/>
            <a:ext cx="212435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位移 &lt; 0.8 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10960" y="2677164"/>
            <a:ext cx="212435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跌倒者短時間無法起身移動；仍在走動則視為日常動作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59520" y="1534164"/>
            <a:ext cx="2519680" cy="220218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7" name="Text 15"/>
          <p:cNvSpPr/>
          <p:nvPr/>
        </p:nvSpPr>
        <p:spPr>
          <a:xfrm>
            <a:off x="9088120" y="1838964"/>
            <a:ext cx="2124355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22B5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088120" y="2346964"/>
            <a:ext cx="212435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7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確認並通知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88120" y="2722879"/>
            <a:ext cx="212435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FD3E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寫入跌倒事件、儀表板轉紅、LINE 推播照護者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5975" y="4044317"/>
            <a:ext cx="5200650" cy="8420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  <p:txBody>
          <a:bodyPr wrap="square" lIns="205105" tIns="154305" rIns="61392" bIns="128905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為什麼要兩個條件？</a:t>
            </a:r>
            <a:r>
              <a:rPr lang="en-US" sz="14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快速坐下、彎腰也會產生尖峰，加上「之後沒移動」可過濾這類誤報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5375" y="4044317"/>
            <a:ext cx="5200650" cy="8420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  <p:txBody>
          <a:bodyPr wrap="square" lIns="205105" tIns="154305" rIns="61392" bIns="128905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沒有定位資料時</a:t>
            </a:r>
            <a:r>
              <a:rPr lang="en-US" sz="14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自動退回單一尖峰條件，寧可多報也不漏報；觸發後 8 秒冷卻避免重複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42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67079"/>
            <a:ext cx="10160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1092200" y="762000"/>
            <a:ext cx="682752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輔助機制：降低誤報、避免漏接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588139"/>
            <a:ext cx="5162550" cy="16421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5" name="Image 0" descr="Setting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869442"/>
            <a:ext cx="38100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30680" y="1915164"/>
            <a:ext cx="144780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自適應閾值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97280" y="2377442"/>
            <a:ext cx="473793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依環境統計（P95）與靈敏度設定自動調整，Hampel 濾波排除離群值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3475" y="1588139"/>
            <a:ext cx="5162550" cy="16421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9" name="Image 1" descr="C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4780" y="1869442"/>
            <a:ext cx="381000" cy="38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28180" y="1915164"/>
            <a:ext cx="202692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長時間靜止提醒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494780" y="2377442"/>
            <a:ext cx="473793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白天 45 分鐘無活動即提醒；夜間 22:00–07:00 為睡眠時段不提醒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15975" y="3465196"/>
            <a:ext cx="5162550" cy="16421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13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97280" y="3746500"/>
            <a:ext cx="381000" cy="381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30680" y="3792221"/>
            <a:ext cx="115824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斷線告警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097280" y="4254500"/>
            <a:ext cx="473793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感測節點離線超過 30 秒即 LINE 通知，每 30 秒回報心跳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13475" y="3465196"/>
            <a:ext cx="5162550" cy="16421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17" name="Image 3" descr="PaperPla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94780" y="3746500"/>
            <a:ext cx="381000" cy="381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28180" y="3792221"/>
            <a:ext cx="115824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警報升級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6494780" y="4254500"/>
            <a:ext cx="473793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跌倒警報 2 分鐘內無人確認，再次推播 LINE 提醒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12800" y="6238242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6000"/>
            <a:ext cx="305308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0"/>
              </a:lnSpc>
              <a:buNone/>
            </a:pPr>
            <a:r>
              <a:rPr lang="en-US" sz="18000" b="1" dirty="0">
                <a:solidFill>
                  <a:srgbClr val="1E4A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04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3865880" y="2667000"/>
            <a:ext cx="101600" cy="1524000"/>
          </a:xfrm>
          <a:prstGeom prst="rect">
            <a:avLst/>
          </a:prstGeom>
          <a:solidFill>
            <a:srgbClr val="22B5D6"/>
          </a:solidFill>
          <a:ln/>
        </p:spPr>
      </p:sp>
      <p:sp>
        <p:nvSpPr>
          <p:cNvPr id="4" name="Text 2"/>
          <p:cNvSpPr/>
          <p:nvPr>
            <p:ph type="title"/>
          </p:nvPr>
        </p:nvSpPr>
        <p:spPr>
          <a:xfrm>
            <a:off x="4323080" y="2872742"/>
            <a:ext cx="469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4F7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系統架構與技術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323080" y="3665221"/>
            <a:ext cx="4028948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2B5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報告者：洪頎棻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6238242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67079"/>
            <a:ext cx="10160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1092200" y="762000"/>
            <a:ext cx="4876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系統架構：物聯網四層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435739"/>
            <a:ext cx="10560050" cy="4347210"/>
          </a:xfrm>
          <a:prstGeom prst="rect">
            <a:avLst/>
          </a:prstGeom>
          <a:solidFill>
            <a:srgbClr val="FFFFFF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5" name="Image 0" descr="WI-Care 系統架構圖：感知層 ESP32-S3、邊緣處理層 Python core_bridge、平台服務層 Supabase 與 LINE、應用層 React 儀表板">    </p:cNvPr>
          <p:cNvPicPr>
            <a:picLocks noChangeAspect="1"/>
          </p:cNvPicPr>
          <p:nvPr/>
        </p:nvPicPr>
        <p:blipFill>
          <a:blip r:embed="rId1"/>
          <a:srcRect l="0" r="0" t="-19" b="-19"/>
          <a:stretch/>
        </p:blipFill>
        <p:spPr>
          <a:xfrm>
            <a:off x="2286000" y="1539242"/>
            <a:ext cx="7620000" cy="4140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42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67079"/>
            <a:ext cx="10160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1092200" y="762000"/>
            <a:ext cx="195072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技術堆疊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537339"/>
            <a:ext cx="5276850" cy="6642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5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6480" y="1704342"/>
            <a:ext cx="330200" cy="330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27200"/>
            <a:ext cx="1257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感測端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938780" y="1744979"/>
            <a:ext cx="25114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ESP32-S3、ESPectre 韌體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99175" y="1537339"/>
            <a:ext cx="5276850" cy="6642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9" name="Image 1" descr="Databa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9680" y="1704342"/>
            <a:ext cx="330200" cy="330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37680" y="1727200"/>
            <a:ext cx="1257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資料庫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21980" y="1744979"/>
            <a:ext cx="3150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Supabase（PostgreSQL、Auth）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5975" y="2207896"/>
            <a:ext cx="5276850" cy="6642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13" name="Image 2" descr="Lin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6480" y="2374900"/>
            <a:ext cx="330200" cy="330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2397764"/>
            <a:ext cx="1257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傳輸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2938780" y="2415542"/>
            <a:ext cx="24872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BLE、Serial、WebSocket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099175" y="2207896"/>
            <a:ext cx="5276850" cy="6642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17" name="Image 3" descr="Hom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29680" y="2374900"/>
            <a:ext cx="330200" cy="330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37680" y="2397764"/>
            <a:ext cx="1257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前端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221980" y="2415542"/>
            <a:ext cx="2701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React 19、TypeScript、Vite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815975" y="2878454"/>
            <a:ext cx="5276850" cy="6642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21" name="Image 4" descr="Tool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46480" y="3045464"/>
            <a:ext cx="330200" cy="330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54480" y="3068321"/>
            <a:ext cx="1257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邊緣運算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2938780" y="3086100"/>
            <a:ext cx="2415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Python 3.12 core_bridge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099175" y="2878454"/>
            <a:ext cx="5276850" cy="6642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25" name="Image 5" descr="Char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329680" y="3045464"/>
            <a:ext cx="330200" cy="330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37680" y="3068321"/>
            <a:ext cx="1257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視覺化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8221980" y="3086100"/>
            <a:ext cx="28330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Recharts、three.js 3D 平面圖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815975" y="3549017"/>
            <a:ext cx="5276850" cy="6642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29" name="Image 6" descr="Search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46480" y="3716021"/>
            <a:ext cx="330200" cy="3302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554480" y="3738879"/>
            <a:ext cx="1257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室內定位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2938780" y="3756664"/>
            <a:ext cx="18901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Wi-Fi RSSI 多點定位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6099175" y="3549017"/>
            <a:ext cx="5276850" cy="6642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33" name="Image 7" descr="Chat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329680" y="3716021"/>
            <a:ext cx="330200" cy="3302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37680" y="3738879"/>
            <a:ext cx="12573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通知與 AI</a:t>
            </a:r>
            <a:endParaRPr lang="en-US" sz="1600" dirty="0"/>
          </a:p>
        </p:txBody>
      </p:sp>
      <p:sp>
        <p:nvSpPr>
          <p:cNvPr id="35" name="Text 25"/>
          <p:cNvSpPr/>
          <p:nvPr/>
        </p:nvSpPr>
        <p:spPr>
          <a:xfrm>
            <a:off x="8221980" y="3756664"/>
            <a:ext cx="2845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LINE Messaging API、Gemini</a:t>
            </a:r>
            <a:endParaRPr lang="en-US" sz="1400" dirty="0"/>
          </a:p>
        </p:txBody>
      </p:sp>
      <p:sp>
        <p:nvSpPr>
          <p:cNvPr id="36" name="Text 26"/>
          <p:cNvSpPr/>
          <p:nvPr/>
        </p:nvSpPr>
        <p:spPr>
          <a:xfrm>
            <a:off x="812800" y="452120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與初評相比：資料庫由本機 PostgreSQL 遷移至 </a:t>
            </a:r>
            <a:r>
              <a:rPr lang="en-US" sz="1400" b="1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Supabase</a:t>
            </a: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；LINE Notify 停止服務，改用 </a:t>
            </a:r>
            <a:r>
              <a:rPr lang="en-US" sz="1400" b="1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LINE Messaging API</a:t>
            </a: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；新增 </a:t>
            </a:r>
            <a:r>
              <a:rPr lang="en-US" sz="1400" b="1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Gemini</a:t>
            </a: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照護洞察</a:t>
            </a:r>
            <a:endParaRPr lang="en-US" sz="1400" dirty="0"/>
          </a:p>
        </p:txBody>
      </p:sp>
      <p:sp>
        <p:nvSpPr>
          <p:cNvPr id="37" name="Text 27"/>
          <p:cNvSpPr/>
          <p:nvPr/>
        </p:nvSpPr>
        <p:spPr>
          <a:xfrm>
            <a:off x="812800" y="6238242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67079"/>
            <a:ext cx="10160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1092200" y="762000"/>
            <a:ext cx="438912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醫療資料的安全保護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584958"/>
            <a:ext cx="3302000" cy="241300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5" name="Text 3"/>
          <p:cNvSpPr/>
          <p:nvPr/>
        </p:nvSpPr>
        <p:spPr>
          <a:xfrm>
            <a:off x="1744472" y="1940558"/>
            <a:ext cx="1438656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22B5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31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1727200" y="3032758"/>
            <a:ext cx="1473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4F7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項權限攻擊測試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4F7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全數通過</a:t>
            </a:r>
            <a:endParaRPr lang="en-US" sz="1600" dirty="0"/>
          </a:p>
        </p:txBody>
      </p:sp>
      <p:pic>
        <p:nvPicPr>
          <p:cNvPr id="7" name="Image 0" descr="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70400" y="1902458"/>
            <a:ext cx="330200" cy="330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78400" y="1915158"/>
            <a:ext cx="30697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傳輸加密</a:t>
            </a:r>
            <a:r>
              <a:rPr lang="en-US" sz="16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　全程 HTTPS 連線</a:t>
            </a:r>
            <a:endParaRPr lang="en-US" sz="1600" dirty="0"/>
          </a:p>
        </p:txBody>
      </p:sp>
      <p:pic>
        <p:nvPicPr>
          <p:cNvPr id="9" name="Image 1" descr="Us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70400" y="2385058"/>
            <a:ext cx="330200" cy="330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78400" y="2397758"/>
            <a:ext cx="7213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角色權限</a:t>
            </a:r>
            <a:r>
              <a:rPr lang="en-US" sz="16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　Row Level Security 限制醫護、家屬、管理者可讀寫的資料</a:t>
            </a:r>
            <a:endParaRPr lang="en-US" sz="1600" dirty="0"/>
          </a:p>
        </p:txBody>
      </p:sp>
      <p:pic>
        <p:nvPicPr>
          <p:cNvPr id="11" name="Image 2" descr="Ke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70400" y="2867658"/>
            <a:ext cx="330200" cy="330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78400" y="2880358"/>
            <a:ext cx="675465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帳密與金鑰</a:t>
            </a:r>
            <a:r>
              <a:rPr lang="en-US" sz="16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　密碼雜湊儲存；LINE、Gemini 金鑰只放伺服器端</a:t>
            </a:r>
            <a:endParaRPr lang="en-US" sz="1600" dirty="0"/>
          </a:p>
        </p:txBody>
      </p:sp>
      <p:pic>
        <p:nvPicPr>
          <p:cNvPr id="13" name="Image 3" descr="Boo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470400" y="3350258"/>
            <a:ext cx="330200" cy="330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78400" y="3362958"/>
            <a:ext cx="4876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稽核日誌</a:t>
            </a:r>
            <a:r>
              <a:rPr lang="en-US" sz="16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　警報確認、角色變更都會留下紀錄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812800" y="6238242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6000"/>
            <a:ext cx="305308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0"/>
              </a:lnSpc>
              <a:buNone/>
            </a:pPr>
            <a:r>
              <a:rPr lang="en-US" sz="18000" b="1" dirty="0">
                <a:solidFill>
                  <a:srgbClr val="1E4A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05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3865880" y="2667000"/>
            <a:ext cx="101600" cy="1524000"/>
          </a:xfrm>
          <a:prstGeom prst="rect">
            <a:avLst/>
          </a:prstGeom>
          <a:solidFill>
            <a:srgbClr val="22B5D6"/>
          </a:solidFill>
          <a:ln/>
        </p:spPr>
      </p:sp>
      <p:sp>
        <p:nvSpPr>
          <p:cNvPr id="4" name="Text 2"/>
          <p:cNvSpPr/>
          <p:nvPr>
            <p:ph type="title"/>
          </p:nvPr>
        </p:nvSpPr>
        <p:spPr>
          <a:xfrm>
            <a:off x="4323080" y="2872742"/>
            <a:ext cx="268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4F7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系統展示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323080" y="3665227"/>
            <a:ext cx="2302256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2B5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報告者：洪銘澤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6238242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67085"/>
            <a:ext cx="10160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1092200" y="762000"/>
            <a:ext cx="48768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展示①　即時監控面板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534158"/>
            <a:ext cx="7010400" cy="3441700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5" name="Image 0" descr="即時監控面板截圖：設備狀態、Movement Score、CSI 波形與區域平面圖">    </p:cNvPr>
          <p:cNvPicPr>
            <a:picLocks noChangeAspect="1"/>
          </p:cNvPicPr>
          <p:nvPr/>
        </p:nvPicPr>
        <p:blipFill>
          <a:blip r:embed="rId1"/>
          <a:srcRect l="0" r="0" t="-14" b="-14"/>
          <a:stretch/>
        </p:blipFill>
        <p:spPr>
          <a:xfrm>
            <a:off x="889000" y="1610358"/>
            <a:ext cx="6858000" cy="3289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78800" y="2091692"/>
            <a:ext cx="329641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E749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展示重點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30870" y="2589535"/>
            <a:ext cx="3236722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1930" indent="-2019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Movement Score 即時更新（每秒 10 次）</a:t>
            </a:r>
            <a:endParaRPr lang="en-US" sz="1500" dirty="0"/>
          </a:p>
          <a:p>
            <a:pPr algn="l" marL="201930" indent="-2019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設備連線與活動狀態</a:t>
            </a:r>
            <a:endParaRPr lang="en-US" sz="1500" dirty="0"/>
          </a:p>
          <a:p>
            <a:pPr algn="l" marL="201930" indent="-2019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CSI 波形即時折線圖</a:t>
            </a:r>
            <a:endParaRPr lang="en-US" sz="1500" dirty="0"/>
          </a:p>
          <a:p>
            <a:pPr algn="l" marL="201930" indent="-2019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平面圖標示受護者位置</a:t>
            </a:r>
            <a:endParaRPr lang="en-US" sz="1500" dirty="0"/>
          </a:p>
          <a:p>
            <a:pPr algn="l" marL="201930" indent="-2019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可切換實機／模擬模式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2800" y="6238242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67085"/>
            <a:ext cx="101600" cy="4572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1092200" y="762000"/>
            <a:ext cx="66939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展示②　跌倒警報與 LINE 通知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534158"/>
            <a:ext cx="7010400" cy="3441700"/>
          </a:xfrm>
          <a:prstGeom prst="rect">
            <a:avLst/>
          </a:prstGeom>
          <a:solidFill>
            <a:srgbClr val="C2410C"/>
          </a:solidFill>
          <a:ln/>
        </p:spPr>
      </p:sp>
      <p:pic>
        <p:nvPicPr>
          <p:cNvPr id="5" name="Image 0" descr="跌倒警報畫面：平面圖房間轉紅並彈出警報視窗，顯示房號與時間">    </p:cNvPr>
          <p:cNvPicPr>
            <a:picLocks noChangeAspect="1"/>
          </p:cNvPicPr>
          <p:nvPr/>
        </p:nvPicPr>
        <p:blipFill>
          <a:blip r:embed="rId1"/>
          <a:srcRect l="-6" r="-6" t="0" b="0"/>
          <a:stretch/>
        </p:blipFill>
        <p:spPr>
          <a:xfrm>
            <a:off x="889000" y="1610358"/>
            <a:ext cx="6858000" cy="3289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78800" y="2396492"/>
            <a:ext cx="329641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展示重點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30870" y="2894335"/>
            <a:ext cx="3236722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1930" indent="-2019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平面圖房間轉紅、彈出警報視窗</a:t>
            </a:r>
            <a:endParaRPr lang="en-US" sz="1500" dirty="0"/>
          </a:p>
          <a:p>
            <a:pPr algn="l" marL="201930" indent="-2019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顯示房號與偵測時間</a:t>
            </a:r>
            <a:endParaRPr lang="en-US" sz="1500" dirty="0"/>
          </a:p>
          <a:p>
            <a:pPr algn="l" marL="201930" indent="-2019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「立即處理」或「標記誤報」</a:t>
            </a:r>
            <a:endParaRPr lang="en-US" sz="1500" dirty="0"/>
          </a:p>
          <a:p>
            <a:pPr algn="l" marL="201930" indent="-20193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同步寫入事件並 LINE 推播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2800" y="6238242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67085"/>
            <a:ext cx="10160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1092200" y="762000"/>
            <a:ext cx="73152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展示③　警報管理與智慧照護分析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534158"/>
            <a:ext cx="5130800" cy="2527300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5" name="Image 0" descr="警報通知頁截圖：待處理、已確認、誤報件數與靈敏度調整建議">    </p:cNvPr>
          <p:cNvPicPr>
            <a:picLocks noChangeAspect="1"/>
          </p:cNvPicPr>
          <p:nvPr/>
        </p:nvPicPr>
        <p:blipFill>
          <a:blip r:embed="rId1"/>
          <a:srcRect l="0" r="0" t="-21" b="-21"/>
          <a:stretch/>
        </p:blipFill>
        <p:spPr>
          <a:xfrm>
            <a:off x="876300" y="1597658"/>
            <a:ext cx="5003800" cy="2400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4213858"/>
            <a:ext cx="528472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警報通知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12800" y="4640585"/>
            <a:ext cx="528472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統計待處理、已確認、誤報件數；依誤報標記產生每位住民的靈敏度調整建議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48400" y="1534158"/>
            <a:ext cx="5130800" cy="2527300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9" name="Image 1" descr="智慧照護分析頁截圖：全體住民跌倒風險排行">    </p:cNvPr>
          <p:cNvPicPr>
            <a:picLocks noChangeAspect="1"/>
          </p:cNvPicPr>
          <p:nvPr/>
        </p:nvPicPr>
        <p:blipFill>
          <a:blip r:embed="rId2"/>
          <a:srcRect l="0" r="0" t="-21" b="-21"/>
          <a:stretch/>
        </p:blipFill>
        <p:spPr>
          <a:xfrm>
            <a:off x="6311900" y="1597658"/>
            <a:ext cx="5003800" cy="2400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48400" y="4213858"/>
            <a:ext cx="528472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智慧照護分析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248400" y="4640585"/>
            <a:ext cx="528472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依近 14 天事件、年齡、病史與用藥計算跌倒風險排行，Gemini 產生照護建議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12800" y="6238242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6000"/>
            <a:ext cx="305308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0"/>
              </a:lnSpc>
              <a:buNone/>
            </a:pPr>
            <a:r>
              <a:rPr lang="en-US" sz="18000" b="1" dirty="0">
                <a:solidFill>
                  <a:srgbClr val="1E4A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06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3865880" y="2667000"/>
            <a:ext cx="101600" cy="1524000"/>
          </a:xfrm>
          <a:prstGeom prst="rect">
            <a:avLst/>
          </a:prstGeom>
          <a:solidFill>
            <a:srgbClr val="22B5D6"/>
          </a:solidFill>
          <a:ln/>
        </p:spPr>
      </p:sp>
      <p:sp>
        <p:nvSpPr>
          <p:cNvPr id="4" name="Text 2"/>
          <p:cNvSpPr/>
          <p:nvPr>
            <p:ph type="title"/>
          </p:nvPr>
        </p:nvSpPr>
        <p:spPr>
          <a:xfrm>
            <a:off x="4323080" y="2872742"/>
            <a:ext cx="335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4F7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測試與評估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323080" y="3665227"/>
            <a:ext cx="287782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2B5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報告者：李勝閎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6238242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67085"/>
            <a:ext cx="10160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1092200" y="762000"/>
            <a:ext cx="390144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跌倒偵測實測結果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483358"/>
            <a:ext cx="2500630" cy="168529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711958"/>
            <a:ext cx="215705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22B5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100%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16000" y="2321558"/>
            <a:ext cx="215705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7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召回率（7/7）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682242"/>
            <a:ext cx="215705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BFD3E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模擬跌倒全數偵測，無漏報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4405" y="1486533"/>
            <a:ext cx="2504440" cy="16789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99510" y="1717042"/>
            <a:ext cx="215705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0E749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≈70%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699510" y="2326642"/>
            <a:ext cx="215705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精確率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99510" y="2687327"/>
            <a:ext cx="229616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 次警報中 7 次為真實跌倒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2995" y="1486533"/>
            <a:ext cx="2504440" cy="16789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F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8100" y="1717042"/>
            <a:ext cx="215705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C2410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 次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388100" y="2326642"/>
            <a:ext cx="215705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每小時誤報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88100" y="2687327"/>
            <a:ext cx="215705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來自快速坐下、彎腰等動作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71585" y="1486533"/>
            <a:ext cx="2504440" cy="16789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F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76690" y="1717042"/>
            <a:ext cx="215705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0E749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≈30 秒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9076690" y="2326642"/>
            <a:ext cx="215705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端對端通知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76690" y="2687327"/>
            <a:ext cx="215705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跌倒發生到 LINE 收到訊息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5975" y="3425825"/>
            <a:ext cx="3397250" cy="6896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21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6480" y="3605535"/>
            <a:ext cx="330200" cy="330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29080" y="3637285"/>
            <a:ext cx="24338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50 項</a:t>
            </a:r>
            <a:r>
              <a:rPr lang="en-US" sz="14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測試個案（第十章）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397375" y="3425825"/>
            <a:ext cx="3397250" cy="6896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24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27880" y="3605535"/>
            <a:ext cx="330200" cy="330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110480" y="3637285"/>
            <a:ext cx="207435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後端 pytest </a:t>
            </a:r>
            <a:r>
              <a:rPr lang="en-US" sz="14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72 項</a:t>
            </a:r>
            <a:r>
              <a:rPr lang="en-US" sz="14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通過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7978775" y="3425825"/>
            <a:ext cx="3397250" cy="6896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27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09280" y="3605535"/>
            <a:ext cx="330200" cy="330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691880" y="3637285"/>
            <a:ext cx="20137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前端 Vitest </a:t>
            </a:r>
            <a:r>
              <a:rPr lang="en-US" sz="14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63 項</a:t>
            </a:r>
            <a:r>
              <a:rPr lang="en-US" sz="14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通過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812800" y="4372608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以召回率優先：漏報一次可能延誤救援，誤報可由照護人員標記並回饋調整。目前樣本數仍少，下一階段將擴大實測。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評估工具：fall_eval.py 離線重放錄製資料，輸出 TP / FP / FN 與各項指標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67085"/>
            <a:ext cx="10160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1092200" y="762000"/>
            <a:ext cx="5775674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延伸研究：LSTM 動作辨識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534158"/>
            <a:ext cx="6854444" cy="675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 ESP32-S3 錄製的 CSI 特徵訓練 LSTM，辨識</a:t>
            </a:r>
            <a:r>
              <a:rPr lang="en-US" sz="16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空房間、蹲下、揮手</a:t>
            </a:r>
            <a:r>
              <a:rPr lang="en-US" sz="160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三種狀態，探索以深度學習區分動作的可行性。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72360"/>
          <a:ext cx="6644640" cy="1917700"/>
        </p:xfrm>
        <a:graphic>
          <a:graphicData uri="http://schemas.openxmlformats.org/drawingml/2006/table">
            <a:tbl>
              <a:tblPr/>
              <a:tblGrid>
                <a:gridCol w="2990088"/>
                <a:gridCol w="3654552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4F7F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項目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4F7F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內容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94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訓練資料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94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27 段錄製、472 筆時序資料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94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輸入特徵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94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 項 CSI 統計特徵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94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模型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94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 層 LSTM（隱藏層 64）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94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訓練準確率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294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95.2%（20/21）</a:t>
                      </a:r>
                      <a:endParaRPr lang="en-US" sz="14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23200" y="1534158"/>
            <a:ext cx="3556000" cy="168148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7" name="Text 4"/>
          <p:cNvSpPr/>
          <p:nvPr/>
        </p:nvSpPr>
        <p:spPr>
          <a:xfrm>
            <a:off x="8077200" y="1813558"/>
            <a:ext cx="313944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22B5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83.3%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077200" y="2651758"/>
            <a:ext cx="31394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7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驗證準確率（5/6）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826375" y="3396617"/>
            <a:ext cx="3549650" cy="11595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  <p:txBody>
          <a:bodyPr wrap="square" lIns="205105" tIns="179705" rIns="110922" bIns="154305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目前為離線研究原型，</a:t>
            </a:r>
            <a:r>
              <a:rPr lang="en-US" sz="1400" b="1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尚未整合</a:t>
            </a:r>
            <a:r>
              <a:rPr lang="en-US" sz="14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至即時跌倒偵測；驗證樣本少，需更多受試者與場域資料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2800" y="6238242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6000"/>
            <a:ext cx="305308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0"/>
              </a:lnSpc>
              <a:buNone/>
            </a:pPr>
            <a:r>
              <a:rPr lang="en-US" sz="18000" b="1" dirty="0">
                <a:solidFill>
                  <a:srgbClr val="1E4A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07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3865880" y="2667000"/>
            <a:ext cx="101600" cy="1524000"/>
          </a:xfrm>
          <a:prstGeom prst="rect">
            <a:avLst/>
          </a:prstGeom>
          <a:solidFill>
            <a:srgbClr val="22B5D6"/>
          </a:solidFill>
          <a:ln/>
        </p:spPr>
      </p:sp>
      <p:sp>
        <p:nvSpPr>
          <p:cNvPr id="4" name="Text 2"/>
          <p:cNvSpPr/>
          <p:nvPr>
            <p:ph type="title"/>
          </p:nvPr>
        </p:nvSpPr>
        <p:spPr>
          <a:xfrm>
            <a:off x="4323080" y="2872742"/>
            <a:ext cx="469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4F7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評審意見與修正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323080" y="3665227"/>
            <a:ext cx="4028948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2B5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報告者：文淳霈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6238242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67085"/>
            <a:ext cx="10160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1092200" y="762000"/>
            <a:ext cx="536448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初評評審意見與修正情形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93518"/>
          <a:ext cx="10556240" cy="2854960"/>
        </p:xfrm>
        <a:graphic>
          <a:graphicData uri="http://schemas.openxmlformats.org/drawingml/2006/table">
            <a:tbl>
              <a:tblPr/>
              <a:tblGrid>
                <a:gridCol w="3166872"/>
                <a:gridCol w="7389368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4F7F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評審意見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4F7F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修正情形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跌倒判斷方式要寫清楚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手冊第九章說明「動作尖峰＋定位融合」雙條件與各項參數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4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準確率要分開計算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建立 fall_eval.py，分列召回率、精確率、F1 與每小時誤報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誤報會造成照護負擔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雙條件過濾日常動作；警報頁可標記誤報並產生靈敏度建議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醫療資料要加密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HTTPS、Row Level Security、密碼雜湊、稽核日誌，31 項攻擊測試通過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斷網、停電要能告警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節點離線 30 秒即 LINE 通知，恢復時再通知；每 30 秒回報心跳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多人房是否互相干擾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現階段鎖定單人房與獨居居家，多人辨識列為後續研究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硬體環境寫 CMD 不明確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改寫為命令提示字元＋ESPHome，並於第十一章說明燒錄步驟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完整 18 項意見與修正情形詳見系統手冊附錄 1（表 15-1）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6000"/>
            <a:ext cx="305308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0"/>
              </a:lnSpc>
              <a:buNone/>
            </a:pPr>
            <a:r>
              <a:rPr lang="en-US" sz="18000" b="1" dirty="0">
                <a:solidFill>
                  <a:srgbClr val="1E4A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08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3865880" y="2667000"/>
            <a:ext cx="101600" cy="1524000"/>
          </a:xfrm>
          <a:prstGeom prst="rect">
            <a:avLst/>
          </a:prstGeom>
          <a:solidFill>
            <a:srgbClr val="22B5D6"/>
          </a:solidFill>
          <a:ln/>
        </p:spPr>
      </p:sp>
      <p:sp>
        <p:nvSpPr>
          <p:cNvPr id="4" name="Text 2"/>
          <p:cNvSpPr/>
          <p:nvPr>
            <p:ph type="title"/>
          </p:nvPr>
        </p:nvSpPr>
        <p:spPr>
          <a:xfrm>
            <a:off x="4323080" y="2872742"/>
            <a:ext cx="469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4F7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未來展望與結論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323080" y="3665227"/>
            <a:ext cx="4028948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2B5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報告者：文淳霈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6238242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67085"/>
            <a:ext cx="10160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1092200" y="762000"/>
            <a:ext cx="438912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使用限制與未來展望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588133"/>
            <a:ext cx="5162550" cy="16421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5" name="Image 0" descr="Us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869442"/>
            <a:ext cx="38100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30680" y="1915158"/>
            <a:ext cx="115824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擴大實測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97280" y="2377442"/>
            <a:ext cx="473793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於防護軟墊上進行更多模擬跌倒，並測試浴室等潮濕環境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3475" y="1588133"/>
            <a:ext cx="5162550" cy="16421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9" name="Image 1" descr="Char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4780" y="1869442"/>
            <a:ext cx="381000" cy="38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28180" y="1915158"/>
            <a:ext cx="173736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建立比較基準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494780" y="2377442"/>
            <a:ext cx="487807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以穿戴式跌倒偵測的公開準確率為目標，持續調校閾值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15975" y="3465202"/>
            <a:ext cx="5162550" cy="16421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13" name="Image 2" descr="Cloud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97280" y="3746500"/>
            <a:ext cx="381000" cy="381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30680" y="3792227"/>
            <a:ext cx="173736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雲端斷線看守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097280" y="4254500"/>
            <a:ext cx="487807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雲端定時檢查各裝置回報，邊緣主機斷電斷網也能告警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13475" y="3465202"/>
            <a:ext cx="5162550" cy="1642110"/>
          </a:xfrm>
          <a:prstGeom prst="rect">
            <a:avLst/>
          </a:prstGeom>
          <a:solidFill>
            <a:srgbClr val="EAF0F6"/>
          </a:solidFill>
          <a:ln w="6350">
            <a:solidFill>
              <a:srgbClr val="D5DFEA"/>
            </a:solidFill>
            <a:prstDash val="solid"/>
          </a:ln>
        </p:spPr>
      </p:sp>
      <p:pic>
        <p:nvPicPr>
          <p:cNvPr id="17" name="Image 3" descr="Lightbulb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94780" y="3746500"/>
            <a:ext cx="381000" cy="381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28180" y="3792227"/>
            <a:ext cx="260604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229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多人辨識與延伸應用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6494780" y="4254500"/>
            <a:ext cx="473793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多節點分離多位住民；整合穿戴裝置資料，延伸至寵物照護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已知限制：微波爐等 2.4 GHz 干擾源、金屬遮蔽會影響訊號；目前適用單人房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7A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778000"/>
            <a:ext cx="101600" cy="508000"/>
          </a:xfrm>
          <a:prstGeom prst="rect">
            <a:avLst/>
          </a:prstGeom>
          <a:solidFill>
            <a:srgbClr val="22B5D6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1092200" y="1769108"/>
            <a:ext cx="1097280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4F7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結論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650492"/>
            <a:ext cx="10883392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00" dirty="0">
                <a:solidFill>
                  <a:srgbClr val="F4F7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 以低成本、高隱私的 Wi-Fi CSI 感測為核心，串接 ESP32-S3、Python 邊緣運算、Supabase 與 React 儀表板，並以 LINE 即時通知照護者。系統在臥室、浴室等攝影機無法進入的空間補上監測缺口，從單點跌倒偵測延伸為整合警報、健康紀錄與 AI 分析的照護平台。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9150" y="4307842"/>
            <a:ext cx="1958340" cy="5715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2B5D6"/>
            </a:solidFill>
            <a:prstDash val="solid"/>
          </a:ln>
        </p:spPr>
        <p:txBody>
          <a:bodyPr wrap="square" lIns="34417" tIns="59817" rIns="34417" bIns="34417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2B5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低成本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67990" y="4307842"/>
            <a:ext cx="1958340" cy="5715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2B5D6"/>
            </a:solidFill>
            <a:prstDash val="solid"/>
          </a:ln>
        </p:spPr>
        <p:txBody>
          <a:bodyPr wrap="square" lIns="34417" tIns="59817" rIns="34417" bIns="34417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2B5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高隱私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16830" y="4307842"/>
            <a:ext cx="1958340" cy="5715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2B5D6"/>
            </a:solidFill>
            <a:prstDash val="solid"/>
          </a:ln>
        </p:spPr>
        <p:txBody>
          <a:bodyPr wrap="square" lIns="34417" tIns="59817" rIns="34417" bIns="34417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2B5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非接觸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65670" y="4307842"/>
            <a:ext cx="1958340" cy="5715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2B5D6"/>
            </a:solidFill>
            <a:prstDash val="solid"/>
          </a:ln>
        </p:spPr>
        <p:txBody>
          <a:bodyPr wrap="square" lIns="34417" tIns="59817" rIns="34417" bIns="34417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2B5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即時警報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14510" y="4307842"/>
            <a:ext cx="1958340" cy="5715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2B5D6"/>
            </a:solidFill>
            <a:prstDash val="solid"/>
          </a:ln>
        </p:spPr>
        <p:txBody>
          <a:bodyPr wrap="square" lIns="34417" tIns="59817" rIns="34417" bIns="34417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2B5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健康管理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6238242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3556000"/>
            <a:ext cx="5461000" cy="5461000"/>
          </a:xfrm>
          <a:prstGeom prst="rect">
            <a:avLst/>
          </a:prstGeom>
        </p:spPr>
      </p:pic>
      <p:pic>
        <p:nvPicPr>
          <p:cNvPr id="3" name="Image 1" descr="Glob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0" y="1828800"/>
            <a:ext cx="762000" cy="762000"/>
          </a:xfrm>
          <a:prstGeom prst="rect">
            <a:avLst/>
          </a:prstGeom>
        </p:spPr>
      </p:pic>
      <p:sp>
        <p:nvSpPr>
          <p:cNvPr id="4" name="Text 0"/>
          <p:cNvSpPr/>
          <p:nvPr>
            <p:ph type="title"/>
          </p:nvPr>
        </p:nvSpPr>
        <p:spPr>
          <a:xfrm>
            <a:off x="2982476" y="2794000"/>
            <a:ext cx="622696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8800"/>
              </a:lnSpc>
              <a:buNone/>
            </a:pPr>
            <a:r>
              <a:rPr lang="en-US" sz="8000" b="1" i="0" dirty="0">
                <a:solidFill>
                  <a:srgbClr val="F4F7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5" name="Text 1"/>
          <p:cNvSpPr/>
          <p:nvPr/>
        </p:nvSpPr>
        <p:spPr>
          <a:xfrm>
            <a:off x="4728401" y="4114800"/>
            <a:ext cx="273519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2B5D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敬請指教　Q &amp; A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3971544" y="4744727"/>
            <a:ext cx="424891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FD3E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WI-Care 智慧長照系統　·　115506 組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9A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-Care 智慧長照系統 期末簡報">
  <a:themeElements>
    <a:clrScheme name="WI-Care 智慧長照系統 期末簡報">
      <a:dk1>
        <a:srgbClr val="12294A"/>
      </a:dk1>
      <a:lt1>
        <a:srgbClr val="F7F9FB"/>
      </a:lt1>
      <a:dk2>
        <a:srgbClr val="4B5D76"/>
      </a:dk2>
      <a:lt2>
        <a:srgbClr val="E0E4E9"/>
      </a:lt2>
      <a:accent1>
        <a:srgbClr val="0E7490"/>
      </a:accent1>
      <a:accent2>
        <a:srgbClr val="22B5D6"/>
      </a:accent2>
      <a:accent3>
        <a:srgbClr val="7F9AB8"/>
      </a:accent3>
      <a:accent4>
        <a:srgbClr val="1E4A75"/>
      </a:accent4>
      <a:accent5>
        <a:srgbClr val="C2410C"/>
      </a:accent5>
      <a:accent6>
        <a:srgbClr val="BFD3E6"/>
      </a:accent6>
      <a:hlink>
        <a:srgbClr val="0563C1"/>
      </a:hlink>
      <a:folHlink>
        <a:srgbClr val="954F72"/>
      </a:folHlink>
    </a:clrScheme>
    <a:fontScheme name="WI-Care 智慧長照系統 期末簡報">
      <a:majorFont>
        <a:latin typeface="Noto Sans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WI-Care 智慧長照系統 期末簡報</dc:title>
  <dc:subject/>
  <dc:creator/>
  <cp:lastModifiedBy/>
  <cp:revision>1</cp:revision>
  <dcterms:created xsi:type="dcterms:W3CDTF">2026-10-09T08:27:09Z</dcterms:created>
  <dcterms:modified xsi:type="dcterms:W3CDTF">2026-10-09T08:27:09Z</dcterms:modified>
</cp:coreProperties>
</file>